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PoetryAI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96AA"/>
                </a:solidFill>
              </a:defRPr>
            </a:pPr>
            <a:r>
              <a:t>AI-Assisted L2 Creative Writing</a:t>
            </a:r>
            <a:br/>
            <a:r>
              <a:t>CCL Seminar - Session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What Is the "Temperature" of a Poem?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Classroom Interactions in L2 Poetry Writing with LLMs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Research Focus: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How parameter settings (temperature, top-p) affect learning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Human-AI interaction in creative writing contexts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Building parameter literacy in language learners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Platform: poetry.aitutor.ink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Custom-built web application for research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Full chat transcript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Multiple experimental conditions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Session 1 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2×2 Factorial Design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Parameter Configuration (Between-subjects):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Structured: Temperature 0.3, Top-p 0.4 (Rooms A &amp; B)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Exploratory: Temperature 0.8, Top-p 0.9 (Rooms C &amp; D)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Awareness Condition (Between-subjects):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Aware: Participants informed about parameter manipulation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Unaware: No disclosure until after experiment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Participants: 10 HKBU graduate students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Advanced English proficiency (IELTS 6.5-7.5 equivalent)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Session 1 conducted: November 24,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Three Types of AI Interactions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Type A - Constraint Repair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AI corrects form/grammar errors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Example: "That's 8 syllables. Haiku needs exactly 5."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Type B - Exemplar Giving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AI provides preset options and examples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Example: "Here are 3 opening lines you could use..."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Type C - Surprise Harvest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AI suggests unexpected ideas and directions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Example: "What if you explored this from the opposite perspective?"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Session 1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Chat Transcripts: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500+ message exchanges across all rooms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Complete behavioral records of human-AI interactions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Coded using three-type framework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Panel Discussion: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22-minute recorded discussion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Spontaneous comparative reflection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Feedback Forms: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66-question survey per participant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Authorship perception, satisfaction, preferences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Finding 1: The Sevenfold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Interaction Type Distribution by Parameter Setting: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STRUCTURED (Low Temperature):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Type A (Constraint Repair): 60%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Type B (Exemplar Giving): 35%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Type C (Surprise Harvest): 5%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EXPLORATORY (High Temperature):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Type A (Constraint Repair): 20%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Type B (Exemplar Giving): 45%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Type C (Surprise Harvest): 35%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Chi-square: χ² = 24.3, p &lt; .001 (highly significant)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Finding 2: The Authorship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The "Helpful but Alienating" Problem: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"I felt like the creator" (1-5 scale):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Structured Room: 3.2/5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Exploratory Room: 4.1/5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"AI suggestions were helpful" (1-5 scale):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Structured Room: 4.6/5 (MORE helpful!)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Exploratory Room: 3.9/5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Key Insight: MORE help ≠ MORE authorship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Direct suggestions reduce sense of creative ownership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Questions and unexpected ideas support authorship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Finding 3: Parameter Effects on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Type C Interactions Enable Deeper Work: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Poems Completed per Participant: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Type A-dominant conditions: 1.2 poems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Type B-dominant conditions: 1.6 poems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Type C-dominant conditions: 2.4 poems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Engagement Duration: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Exploratory rooms: 40-50 minutes average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Structured rooms: 23-35 minutes average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Content Depth: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Type C: Longer poems, metaphorical complexity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Type A: Shorter, more formulaic outputs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Finding 4: Parameter Effects on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Emotional Depth &amp; Vulnerability: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Low Temperature (Structured):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Content: Generic, safe topics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Average poem length: 8-10 lines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Personal content: Minimal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High Temperature (Exploratory):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Content: Deeply personal (relationships, health, identity)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Average poem length: 12-16 lines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Personal details: PhD struggles, life challenges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Interpretation: Parameters affect willingness to share vulnerable content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Qualitative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Room B Example (Low Temperature):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USER: "In the factory of dreams, where wonder grows"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AI: "Here are three options:"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AI: "1) Machines hum softly, stitching joy and woe"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       "2) Every dream takes shape, in colors bright..."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Pattern: Formulaic, preset options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Room C Example (High Temperature):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USER: "...huge pressure... weak health..."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AI: "Are you feeling safe? Here are mental health resources."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AI: "Would using found poetry with citations help?"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Pattern: Responsive, unexpected, elevated craft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Session 1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Poem Completion Rate: 100%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All 10 participants completed ≥1 poem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Satisfaction with Final Poem: 75%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Rated 4-5/5 in both parameter conditions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Average Conversation Length: 20-40 exchanges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Typical depth sufficient for meaningful creative work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Willingness to Use Again: 90%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"Yes" responses in both parameter conditions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Key Point: Parameter differences affect PROCESS,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not satisfaction or completion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Implications for Educators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Parameter Literacy as Teaching Skill: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Learn to configure AI for different learning goals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Structured parameters → master form accuracy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Exploratory parameters → explore creative boundaries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Not One Size Fits All: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Different learners benefit from different parameter settings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May need to scaffold with progression (low-temp → high-temp)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Type C Interactions Support Authorship: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Creative writing should emphasize high-temperature settings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Unexpected directions enable authentic co-creation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Help Paradox Applies to All Teaching: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More guidance doesn't always mean more learning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Implications for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Parameter Awareness as Learner Skill: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You can advocate for what you need from AI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Feel constrained? Ask for exploratory mode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Feel lost? Ask for more structured guidance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Learning WITH vs. Learning FROM AI: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Co-creation requires active authorship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Parameter choices shape collaboration dynamics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Developing AI Literacy: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Understanding interaction types helps critical thinking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Recognize when AI helps vs. when it limits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Transferable Skill: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These principles apply to all AI tools you 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RQ1: How do parameter settings condition interaction types?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✓ ANSWERED: Sevenfold difference in Type C frequency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RQ2: How do interaction types influence authorship perception?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✓ ANSWERED: Type C enables higher authorship feelings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RQ3: What are pedagogical implications of parameter choices?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✓ ANSWERED: Parameters enable dynamic DDL scaffolding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RQ4: Which interaction types are most useful for instruction?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✓ ADDRESSED: Type C valued most by learners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Sessions 2 &amp; 3 (Upcoming):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10 additional participants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Validation of preliminary patterns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Full 20-participant dataset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Expanded Analysis: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Individual difference moderators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Longitudinal effects across sessions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Interaction type scaffolding sequences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Practical Application: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Parameter literacy curriculum for educators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Platform refinement based on findings</a:t>
            </a:r>
          </a:p>
          <a:p>
            <a:pPr lvl="1"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Publication and dissemination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1. Parameters are not minor technical details—they're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 pedagogical design choices that fundamentally reshape AI behavior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2. The help paradox: direct, helpful suggestions can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 undermine creative ownership in language learning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3. Type C (Surprise Harvest) interactions enable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 authorship, engagement, and deeper creative work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4. Parameter awareness is an important literacy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 for both educators and learners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5. Dynamic parameter adjustment enables sophisticated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 AI-assisted language pedagogy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96AA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