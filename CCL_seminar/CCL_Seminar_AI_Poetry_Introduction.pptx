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59" r:id="rId7"/>
    <p:sldId id="258" r:id="rId8"/>
    <p:sldId id="260" r:id="rId9"/>
    <p:sldId id="261" r:id="rId10"/>
    <p:sldId id="263" r:id="rId11"/>
    <p:sldId id="262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lang="en-US"/>
              <a:t>Introduction: </a:t>
            </a:r>
            <a:r>
              <a:t>AI and Creative Poetry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Exploring Human-AI Collaboration in </a:t>
            </a:r>
            <a:r>
              <a:rPr lang="en-US"/>
              <a:t>Creative Writing and </a:t>
            </a:r>
            <a:r>
              <a:t>Language Learning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Story of Charles Bernstein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1160" y="1356995"/>
            <a:ext cx="3760470" cy="39287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000"/>
              <a:t>• 2019: Publication of Poetry Has No Future Unless It Comes to an End</a:t>
            </a:r>
            <a:endParaRPr sz="20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000"/>
              <a:t>• Co-created with AI trained on Bernstein's own poetry</a:t>
            </a:r>
            <a:endParaRPr sz="20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000"/>
              <a:t>• </a:t>
            </a:r>
            <a:r>
              <a:rPr lang="en-US" altLang="zh-CN" sz="2000"/>
              <a:t>Yet, when the book was published, only Bernstein and the programmer were listed as authors, </a:t>
            </a:r>
            <a:r>
              <a:rPr sz="2000"/>
              <a:t>the AI remained uncredited</a:t>
            </a:r>
            <a:endParaRPr sz="20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000"/>
              <a:t>• This erasure reveals our ambivalence about AI creativity</a:t>
            </a:r>
            <a:endParaRPr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1545" y="1097280"/>
            <a:ext cx="3878580" cy="46393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41545" y="5896610"/>
            <a:ext cx="3251835" cy="4502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fontAlgn="base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1A1A1A"/>
                </a:solidFill>
                <a:latin typeface="calluna-1"/>
                <a:ea typeface="calluna-1"/>
              </a:rPr>
              <a:t>Charles Bernstein &amp; Davide Balula </a:t>
            </a:r>
            <a:r>
              <a:rPr lang="zh-CN" altLang="en-US" sz="1600" b="1" i="0">
                <a:solidFill>
                  <a:srgbClr val="1A1A1A"/>
                </a:solidFill>
                <a:latin typeface="calluna-1"/>
                <a:ea typeface="宋体" panose="02010600030101010101" pitchFamily="2" charset="-122"/>
              </a:rPr>
              <a:t>（</a:t>
            </a:r>
            <a:r>
              <a:rPr lang="en-US" altLang="zh-CN" sz="1600" b="1" i="0">
                <a:solidFill>
                  <a:srgbClr val="1A1A1A"/>
                </a:solidFill>
                <a:latin typeface="calluna-1"/>
                <a:ea typeface="宋体" panose="02010600030101010101" pitchFamily="2" charset="-122"/>
              </a:rPr>
              <a:t>the programmer</a:t>
            </a:r>
            <a:r>
              <a:rPr lang="zh-CN" altLang="en-US" sz="1600" b="1" i="0">
                <a:solidFill>
                  <a:srgbClr val="1A1A1A"/>
                </a:solidFill>
                <a:latin typeface="calluna-1"/>
                <a:ea typeface="宋体" panose="02010600030101010101" pitchFamily="2" charset="-122"/>
              </a:rPr>
              <a:t>）</a:t>
            </a:r>
            <a:endParaRPr lang="en-US" altLang="zh-CN" sz="1600" b="1" i="0">
              <a:solidFill>
                <a:srgbClr val="1A1A1A"/>
              </a:solidFill>
              <a:latin typeface="calluna-1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774700"/>
            <a:ext cx="4610735" cy="5999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Our Era of Ambivalence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545" y="1941195"/>
            <a:ext cx="7863840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</a:t>
            </a:r>
            <a:r>
              <a:rPr sz="2400"/>
              <a:t>AI brings exciting new possibilities to creative fields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• Yet we face urgent questions: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   - What happens to human originality?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   - What does authorship mean anymore?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   - Can machines replace human creativity?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"In an age of technological advancement, where exactly do we humans stand?"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— Central Question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Academic Skepticism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876425"/>
            <a:ext cx="786384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• AI-generated poetry often lacks genuine emotion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• Missing contextual depth and nuanced understanding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• Human bias against machine-created work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sz="2400"/>
              <a:t>• Fear of losing human creativity: 'anxiety of machine influence'</a:t>
            </a:r>
            <a:endParaRPr sz="2400"/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endParaRPr sz="2400"/>
          </a:p>
        </p:txBody>
      </p:sp>
      <p:sp>
        <p:nvSpPr>
          <p:cNvPr id="4" name="文本框 3"/>
          <p:cNvSpPr txBox="1"/>
          <p:nvPr/>
        </p:nvSpPr>
        <p:spPr>
          <a:xfrm>
            <a:off x="10575925" y="26066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"What if AI isn't a threat, but a catalyst for creativity?"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— The Emerging Perspective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Can AI Bring to </a:t>
            </a:r>
            <a:r>
              <a:rPr lang="en-US"/>
              <a:t>the Table?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1. Idea Prompt &amp; Diversity Explorer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- Draw from thousands of poems across centuries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- Fresh perspectives unconstrained by human bias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2. Democratization &amp; Personalization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- Make poetry creation accessible to everyone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3. Mastery Imitator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- Simulate styles and approaches of great poets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Poetry (and Not Prose)?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Poetry tolerates ambiguity and formal flexibility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Grammar and syntax are not strictly enforced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Readers expect uncertainty and abstraction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Lower technical barrier than fiction or prose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BUT: Technical possibility ≠ Capturing true poetry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Human Decisions</a:t>
            </a:r>
            <a:r>
              <a:rPr lang="en-GB"/>
              <a:t> Matter!!!</a:t>
            </a:r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640080" y="110236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 poem's power emerges from interplay, not single elements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Nuance lives in how poets make choices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Selecting one word from many synonyms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Embracing unexpected AI suggestions creatively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These micro-decisions are where poetry becomes poetry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These decisions must be documented and studied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"The incommunicable, deeply private aspects of human expression cannot be reduced to algorithms."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— The Irreducible Humanity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Path Forward: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46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Human-Machine In-A-Loop methodology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Genuine partnership, not human editing machine output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Humans continuously add interpretive layers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Requires Human-Centered Mindset: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- AI must serve human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Questions Before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198360" cy="446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In an era when machines generate poetry in seconds,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what is the irreducible value of human creativity?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What will poetry become when humans and machines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collaborate thoughtfully and intentionally?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How can we design technologies that strengthen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human capacity and amplify human voice?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The Answer Lies in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Not choosing between human or machine,</a:t>
            </a:r>
            <a:br/>
            <a:r>
              <a:t>but understanding how to strengthen both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2819</Words>
  <Application>WPS 演示</Application>
  <PresentationFormat>On-screen Show (4:3)</PresentationFormat>
  <Paragraphs>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calluna-1</vt:lpstr>
      <vt:lpstr>calluna-1</vt:lpstr>
      <vt:lpstr>汉仪旗黑X1-95简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Ruobin Yu</cp:lastModifiedBy>
  <cp:revision>2</cp:revision>
  <dcterms:created xsi:type="dcterms:W3CDTF">2013-01-27T09:14:00Z</dcterms:created>
  <dcterms:modified xsi:type="dcterms:W3CDTF">2026-01-06T10:46:05Z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21A0E4E0E7914C339F17400DD48E5C3B_12</vt:lpwstr>
  </property>
</Properties>
</file>