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Theoretical Framework Enhancement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Integrating Heidegger, Oulipo, and Strehovec</a:t>
            </a:r>
          </a:p>
          <a:p>
            <a:r>
              <a:t>Addressing Dr. Checketts' and Dr. Harrington's Feedback</a:t>
            </a:r>
          </a:p>
          <a:p/>
          <a:p>
            <a:r>
              <a:t>Supplementary Slides for CRP Second Debate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Contrasting Perspectives on Poetry &amp; Machine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Addressing the Poetry-Machine Tension</a:t>
            </a:r>
          </a:p>
          <a:p>
            <a:pPr>
              <a:defRPr b="1">
                <a:solidFill>
                  <a:srgbClr val="C00000"/>
                </a:solidFill>
              </a:defRPr>
            </a:pPr>
            <a:r>
              <a:t>1. Heidegger (1984): Poetry as Antithesis to Machine Logic</a:t>
            </a:r>
          </a:p>
          <a:p>
            <a:pPr lvl="1">
              <a:defRPr sz="1400"/>
            </a:pPr>
            <a:r>
              <a:t>• Poetry = purest human expression, incompatible with systematic procedures</a:t>
            </a:r>
          </a:p>
          <a:p>
            <a:pPr lvl="1">
              <a:defRPr sz="1400"/>
            </a:pPr>
            <a:r>
              <a:t>• Categorical rejection: mechanizing what must remain ineffable</a:t>
            </a:r>
          </a:p>
          <a:p>
            <a:pPr>
              <a:defRPr b="1">
                <a:solidFill>
                  <a:srgbClr val="008000"/>
                </a:solidFill>
              </a:defRPr>
            </a:pPr>
            <a:r>
              <a:t>2. Oulipo (1960-present): Constraint as Creative Liberation</a:t>
            </a:r>
          </a:p>
          <a:p>
            <a:pPr lvl="1">
              <a:defRPr sz="1400"/>
            </a:pPr>
            <a:r>
              <a:t>• "Constraint liberates" - systematic procedures force unexplored linguistic territory</a:t>
            </a:r>
          </a:p>
          <a:p>
            <a:pPr lvl="1">
              <a:defRPr sz="1400"/>
            </a:pPr>
            <a:r>
              <a:t>• 60-year track record: Perec's novel without letter 'e', N+7, mathematical structures</a:t>
            </a:r>
          </a:p>
          <a:p>
            <a:pPr>
              <a:defRPr b="1">
                <a:solidFill>
                  <a:srgbClr val="0000C0"/>
                </a:solidFill>
              </a:defRPr>
            </a:pPr>
            <a:r>
              <a:t>3. Strehovec (2023): Poetry as Cognitive Problem-Solving</a:t>
            </a:r>
          </a:p>
          <a:p>
            <a:pPr lvl="1">
              <a:defRPr sz="1400"/>
            </a:pPr>
            <a:r>
              <a:t>• Artistic creation = cognitive, goal-oriented activity</a:t>
            </a:r>
          </a:p>
          <a:p>
            <a:pPr lvl="1">
              <a:defRPr sz="1400"/>
            </a:pPr>
            <a:r>
              <a:t>• Poetry composition as systematic craft involving learnable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Theoretical Positions: 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0000"/>
                </a:solidFill>
              </a:defRPr>
            </a:pPr>
            <a:r>
              <a:t>Heidegger</a:t>
            </a:r>
          </a:p>
          <a:p>
            <a:br/>
            <a:pPr>
              <a:defRPr sz="1400" b="1"/>
            </a:pPr>
            <a:r>
              <a:t>Poetry vs. Machine Logic</a:t>
            </a:r>
          </a:p>
          <a:p>
            <a:pPr algn="ctr">
              <a:defRPr sz="1300"/>
            </a:pPr>
            <a:r>
              <a:t>↓</a:t>
            </a:r>
          </a:p>
          <a:p>
            <a:pPr algn="l">
              <a:defRPr sz="1300"/>
            </a:pPr>
            <a:r>
              <a:t>Categorical separation</a:t>
            </a:r>
          </a:p>
          <a:p>
            <a:pPr algn="l">
              <a:defRPr sz="1300"/>
            </a:pPr>
            <a:r>
              <a:t>Poetry = ineffable</a:t>
            </a:r>
          </a:p>
          <a:p>
            <a:pPr algn="l">
              <a:defRPr sz="1300"/>
            </a:pPr>
            <a:r>
              <a:t>Science ≠ Art</a:t>
            </a:r>
          </a:p>
          <a:p>
            <a:pPr algn="l">
              <a:defRPr sz="1300"/>
            </a:pPr>
            <a:r>
              <a:t>Machine = threat to authenticity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000"/>
                </a:solidFill>
              </a:defRPr>
            </a:pPr>
            <a:r>
              <a:t>Oulipo</a:t>
            </a:r>
          </a:p>
          <a:p>
            <a:br/>
            <a:pPr>
              <a:defRPr sz="1400" b="1"/>
            </a:pPr>
            <a:r>
              <a:t>Constraint = Liberation</a:t>
            </a:r>
          </a:p>
          <a:p>
            <a:pPr algn="ctr">
              <a:defRPr sz="1300"/>
            </a:pPr>
            <a:r>
              <a:t>↓</a:t>
            </a:r>
          </a:p>
          <a:p>
            <a:pPr algn="l">
              <a:defRPr sz="1300"/>
            </a:pPr>
            <a:r>
              <a:t>Deliberate constraints</a:t>
            </a:r>
          </a:p>
          <a:p>
            <a:pPr algn="l">
              <a:defRPr sz="1300"/>
            </a:pPr>
            <a:r>
              <a:t>Systematic procedures</a:t>
            </a:r>
          </a:p>
          <a:p>
            <a:pPr algn="l">
              <a:defRPr sz="1300"/>
            </a:pPr>
            <a:r>
              <a:t>Algorithmic generation</a:t>
            </a:r>
          </a:p>
          <a:p>
            <a:pPr algn="l">
              <a:defRPr sz="1300"/>
            </a:pPr>
            <a:r>
              <a:t>Constraint →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0972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C0"/>
                </a:solidFill>
              </a:defRPr>
            </a:pPr>
            <a:r>
              <a:t>Strehovec</a:t>
            </a:r>
          </a:p>
          <a:p>
            <a:br/>
            <a:pPr>
              <a:defRPr sz="1400" b="1"/>
            </a:pPr>
            <a:r>
              <a:t>Poetry = Cognitive Work</a:t>
            </a:r>
          </a:p>
          <a:p>
            <a:pPr algn="ctr">
              <a:defRPr sz="1300"/>
            </a:pPr>
            <a:r>
              <a:t>↓</a:t>
            </a:r>
          </a:p>
          <a:p>
            <a:pPr algn="l">
              <a:defRPr sz="1300"/>
            </a:pPr>
            <a:r>
              <a:t>Goal-oriented activity</a:t>
            </a:r>
          </a:p>
          <a:p>
            <a:pPr algn="l">
              <a:defRPr sz="1300"/>
            </a:pPr>
            <a:r>
              <a:t>Learnable craft</a:t>
            </a:r>
          </a:p>
          <a:p>
            <a:pPr algn="l">
              <a:defRPr sz="1300"/>
            </a:pPr>
            <a:r>
              <a:t>Problem-solving</a:t>
            </a:r>
          </a:p>
          <a:p>
            <a:pPr algn="l">
              <a:defRPr sz="1300"/>
            </a:pPr>
            <a:r>
              <a:t>Methodology-supported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Oulipo: Historical Precedent for Constraint-Based Creativity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 Years of Systematic Procedures in Literary Creation</a:t>
            </a:r>
          </a:p>
          <a:p>
            <a:pPr>
              <a:defRPr b="1"/>
            </a:pPr>
            <a:r>
              <a:t>Key Examples:</a:t>
            </a:r>
          </a:p>
          <a:p>
            <a:pPr lvl="1">
              <a:defRPr sz="1400"/>
            </a:pPr>
            <a:r>
              <a:t>Georges Perec's La Disparition (1969): 300-page novel without letter 'e'</a:t>
            </a:r>
          </a:p>
          <a:p>
            <a:pPr lvl="1">
              <a:defRPr sz="1400"/>
            </a:pPr>
            <a:r>
              <a:t>Lipogram: Deliberately omitting certain letters throughout entire work</a:t>
            </a:r>
          </a:p>
          <a:p>
            <a:pPr lvl="1">
              <a:defRPr sz="1400"/>
            </a:pPr>
            <a:r>
              <a:t>N+7: Replace each noun with 7th noun following it in dictionary</a:t>
            </a:r>
          </a:p>
          <a:p>
            <a:pPr lvl="1">
              <a:defRPr sz="1400"/>
            </a:pPr>
            <a:r>
              <a:t>S+7: Same technique applied to other word classes</a:t>
            </a:r>
          </a:p>
          <a:p>
            <a:pPr lvl="1">
              <a:defRPr sz="1400"/>
            </a:pPr>
            <a:r>
              <a:t>Mathematical structures: Sonnets using Fibonacci sequences</a:t>
            </a:r>
          </a:p>
          <a:p>
            <a:pPr lvl="1">
              <a:defRPr sz="1400"/>
            </a:pPr>
            <a:r>
              <a:t>Constraint-based translation: Translating while maintaining original constraints</a:t>
            </a:r>
          </a:p>
          <a:p>
            <a:pPr>
              <a:defRPr i="1" b="1" sz="1600">
                <a:solidFill>
                  <a:srgbClr val="008000"/>
                </a:solidFill>
              </a:defRPr>
            </a:pPr>
            <a:r>
              <a:t>Core Principle: "La contrainte libère" (Constraint liberates)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Stance: Bounded Transparency in AI-Mediated Poetry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Synthesizing Three Perspectives</a:t>
            </a:r>
          </a:p>
          <a:p>
            <a:pPr>
              <a:defRPr b="1">
                <a:solidFill>
                  <a:srgbClr val="008000"/>
                </a:solidFill>
              </a:defRPr>
            </a:pPr>
            <a:r>
              <a:t>What We Accept:</a:t>
            </a:r>
          </a:p>
          <a:p>
            <a:pPr lvl="1">
              <a:defRPr sz="1400"/>
            </a:pPr>
            <a:r>
              <a:t>✓ From Oulipo: Systematic procedures can expand creative possibility</a:t>
            </a:r>
          </a:p>
          <a:p>
            <a:pPr lvl="1">
              <a:defRPr sz="1400"/>
            </a:pPr>
            <a:r>
              <a:t>✓ From Strehovec: Poetry composition as learnable, systematic craft</a:t>
            </a:r>
          </a:p>
          <a:p>
            <a:pPr lvl="1">
              <a:defRPr sz="1400"/>
            </a:pPr>
            <a:r>
              <a:t>✓ AI-generated patterns can function as productive constraints</a:t>
            </a:r>
          </a:p>
          <a:p>
            <a:pPr>
              <a:defRPr b="1">
                <a:solidFill>
                  <a:srgbClr val="C00000"/>
                </a:solidFill>
              </a:defRPr>
            </a:pPr>
            <a:r>
              <a:t>What We Reject:</a:t>
            </a:r>
          </a:p>
          <a:p>
            <a:pPr lvl="1">
              <a:defRPr sz="1400"/>
            </a:pPr>
            <a:r>
              <a:t>✗ Heidegger's categorical rejection of machine involvement</a:t>
            </a:r>
          </a:p>
          <a:p>
            <a:pPr lvl="1">
              <a:defRPr sz="1400"/>
            </a:pPr>
            <a:r>
              <a:t>✗ Treating AI as autonomous poet or creative agent</a:t>
            </a:r>
          </a:p>
          <a:p>
            <a:pPr lvl="1">
              <a:defRPr sz="1400"/>
            </a:pPr>
            <a:r>
              <a:t>✗ Passive acceptance of AI output without critical engagement</a:t>
            </a:r>
          </a:p>
          <a:p>
            <a:pPr>
              <a:defRPr b="1">
                <a:solidFill>
                  <a:srgbClr val="0000C0"/>
                </a:solidFill>
              </a:defRPr>
            </a:pPr>
            <a:r>
              <a:t>Core Position:</a:t>
            </a:r>
          </a:p>
          <a:p>
            <a:pPr lvl="1">
              <a:defRPr sz="1500" b="1"/>
            </a:pPr>
            <a:r>
              <a:t>Machine influence is pedagogically valid when BOUNDED and TRANSPARENT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 Pedagogical Constraint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Creative Agent, But Oulipian Constraint Mechanism</a:t>
            </a:r>
          </a:p>
          <a:p>
            <a:pPr>
              <a:defRPr b="1"/>
            </a:pPr>
            <a:r>
              <a:t>AI Functions Like Oulipian Constraints:</a:t>
            </a:r>
          </a:p>
          <a:p>
            <a:pPr lvl="1">
              <a:defRPr sz="1400"/>
            </a:pPr>
            <a:r>
              <a:t>Generate linguistic possibilities through systematic procedures</a:t>
            </a:r>
          </a:p>
          <a:p>
            <a:pPr lvl="1">
              <a:defRPr sz="1400"/>
            </a:pPr>
            <a:r>
              <a:t>Surface patterns that learners wouldn't discover alone</a:t>
            </a:r>
          </a:p>
          <a:p>
            <a:pPr lvl="1">
              <a:defRPr sz="1400"/>
            </a:pPr>
            <a:r>
              <a:t>Force exploration of unexplored linguistic territory</a:t>
            </a:r>
          </a:p>
          <a:p>
            <a:pPr lvl="1">
              <a:defRPr sz="1400"/>
            </a:pPr>
            <a:r>
              <a:t>Provide structured starting points for creative expansion</a:t>
            </a:r>
          </a:p>
          <a:p>
            <a:pPr>
              <a:defRPr b="1"/>
            </a:pPr>
            <a:r>
              <a:t>Human Writers Maintain Critical Agency:</a:t>
            </a:r>
          </a:p>
          <a:p>
            <a:pPr lvl="1">
              <a:defRPr sz="1400"/>
            </a:pPr>
            <a:r>
              <a:t>Selection: Choose which AI suggestions to adopt</a:t>
            </a:r>
          </a:p>
          <a:p>
            <a:pPr lvl="1">
              <a:defRPr sz="1400"/>
            </a:pPr>
            <a:r>
              <a:t>Rejection: Discard suggestions that don't fit creative vision</a:t>
            </a:r>
          </a:p>
          <a:p>
            <a:pPr lvl="1">
              <a:defRPr sz="1400"/>
            </a:pPr>
            <a:r>
              <a:t>Revision: Modify AI output to match intent and voice</a:t>
            </a:r>
          </a:p>
          <a:p>
            <a:pPr lvl="1">
              <a:defRPr sz="1400"/>
            </a:pPr>
            <a:r>
              <a:t>Integration: Synthesize AI patterns into coherent creative work</a:t>
            </a:r>
          </a:p>
          <a:p>
            <a:pPr>
              <a:defRPr i="1" sz="1500">
                <a:solidFill>
                  <a:srgbClr val="008000"/>
                </a:solidFill>
              </a:defRPr>
            </a:pPr>
            <a:r>
              <a:t>AI = 'Potential Literature Machine' (Oulipo term)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Oulipo Constraints vs. AI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Comparative Analysis</a:t>
            </a:r>
          </a:p>
          <a:p>
            <a:pPr>
              <a:defRPr b="1"/>
            </a:pPr>
            <a:r>
              <a:t>Traditional Oulipo Constraints:</a:t>
            </a:r>
          </a:p>
          <a:p>
            <a:pPr lvl="1">
              <a:defRPr sz="1400"/>
            </a:pPr>
            <a:r>
              <a:t>Rigid: Lipogram completely excludes certain letters</a:t>
            </a:r>
          </a:p>
          <a:p>
            <a:pPr lvl="1">
              <a:defRPr sz="1400"/>
            </a:pPr>
            <a:r>
              <a:t>Static: N+7 follows fixed dictionary order</a:t>
            </a:r>
          </a:p>
          <a:p>
            <a:pPr lvl="1">
              <a:defRPr sz="1400"/>
            </a:pPr>
            <a:r>
              <a:t>Pre-defined: Mathematical structures set before writing</a:t>
            </a:r>
          </a:p>
          <a:p>
            <a:pPr lvl="1">
              <a:defRPr sz="1400"/>
            </a:pPr>
            <a:r>
              <a:t>Non-responsive: Constraint doesn't adapt to content</a:t>
            </a:r>
          </a:p>
          <a:p>
            <a:pPr>
              <a:defRPr b="1"/>
            </a:pPr>
            <a:r>
              <a:t>AI-Generated Constraints (Our Approach):</a:t>
            </a:r>
          </a:p>
          <a:p>
            <a:pPr lvl="1">
              <a:defRPr sz="1400"/>
            </a:pPr>
            <a:r>
              <a:t>Flexible: Suggestions can be partially adopted or modified</a:t>
            </a:r>
          </a:p>
          <a:p>
            <a:pPr lvl="1">
              <a:defRPr sz="1400"/>
            </a:pPr>
            <a:r>
              <a:t>Dynamic: AI responds to learner's developing text</a:t>
            </a:r>
          </a:p>
          <a:p>
            <a:pPr lvl="1">
              <a:defRPr sz="1400"/>
            </a:pPr>
            <a:r>
              <a:t>Context-aware: Suggestions adapt to theme, style, mood</a:t>
            </a:r>
          </a:p>
          <a:p>
            <a:pPr lvl="1">
              <a:defRPr sz="1400"/>
            </a:pPr>
            <a:r>
              <a:t>Responsive: Learners can request specific types of constraints</a:t>
            </a:r>
          </a:p>
          <a:p>
            <a:pPr>
              <a:defRPr i="1" b="1" sz="1400">
                <a:solidFill>
                  <a:srgbClr val="0000C0"/>
                </a:solidFill>
              </a:defRPr>
            </a:pPr>
            <a:r>
              <a:t>AI constraints are LESS rigid and MORE contextually responsive than Oulipian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Integration Strengthens Our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Forms of Validation</a:t>
            </a:r>
          </a:p>
          <a:p>
            <a:pPr>
              <a:defRPr b="1"/>
            </a:pPr>
            <a:r>
              <a:t>1. Historical Precedent</a:t>
            </a:r>
          </a:p>
          <a:p>
            <a:pPr lvl="1">
              <a:defRPr sz="1300"/>
            </a:pPr>
            <a:r>
              <a:t>Oulipo's 60-year track record demonstrates systematic procedures CAN generate recognized literary achievements</a:t>
            </a:r>
          </a:p>
          <a:p>
            <a:pPr>
              <a:defRPr b="1"/>
            </a:pPr>
            <a:r>
              <a:t>2. Theoretical Grounding</a:t>
            </a:r>
          </a:p>
          <a:p>
            <a:pPr lvl="1">
              <a:defRPr sz="1300"/>
            </a:pPr>
            <a:r>
              <a:t>Bridges computational approach (Strehovec) with creative constraint tradition (Oulipo), addressing Heidegger's concerns</a:t>
            </a:r>
          </a:p>
          <a:p>
            <a:pPr>
              <a:defRPr b="1"/>
            </a:pPr>
            <a:r>
              <a:t>3. Pedagogical Justification</a:t>
            </a:r>
          </a:p>
          <a:p>
            <a:pPr lvl="1">
              <a:defRPr sz="1300"/>
            </a:pPr>
            <a:r>
              <a:t>If strict Oulipian constraints produce creativity, then more flexible AI-generated constraints should enable authentic creative work</a:t>
            </a:r>
          </a:p>
          <a:p/>
          <a:p>
            <a:pPr>
              <a:defRPr i="1" sz="1400">
                <a:solidFill>
                  <a:srgbClr val="000080"/>
                </a:solidFill>
              </a:defRPr>
            </a:pPr>
            <a:r>
              <a:t>Key Insight: AI-assisted poetry aligns with 60-year tradition of constraint-based creation while introducing more adaptive, learner-responsive mechanisms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Addresses Panel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Response to Dr. Checketts and Dr. Harrington</a:t>
            </a:r>
          </a:p>
          <a:p>
            <a:pPr>
              <a:defRPr b="1"/>
            </a:pPr>
            <a:r>
              <a:t>Dr. Checketts' Concern:</a:t>
            </a:r>
          </a:p>
          <a:p>
            <a:pPr lvl="1">
              <a:defRPr i="1" sz="1300"/>
            </a:pPr>
            <a:r>
              <a:t>"Heidegger frames poetry as opposite of machine logic. Justify why poetry needs machine influence."</a:t>
            </a:r>
          </a:p>
          <a:p>
            <a:pPr lvl="1">
              <a:defRPr b="1"/>
            </a:pPr>
            <a:r>
              <a:t>Our Response:</a:t>
            </a:r>
          </a:p>
          <a:p>
            <a:pPr lvl="2">
              <a:defRPr sz="1300"/>
            </a:pPr>
            <a:r>
              <a:t>Three-perspective framework explicitly engages Heidegger while showing Oulipo and Strehovec provide counterevidence that systematic procedures can serve poetry</a:t>
            </a:r>
          </a:p>
          <a:p/>
          <a:p>
            <a:pPr>
              <a:defRPr b="1"/>
            </a:pPr>
            <a:r>
              <a:t>Dr. Harrington's Suggestion:</a:t>
            </a:r>
          </a:p>
          <a:p>
            <a:pPr lvl="1">
              <a:defRPr i="1" sz="1300"/>
            </a:pPr>
            <a:r>
              <a:t>"Explore Oulipo as relevant creative constraint tradition."</a:t>
            </a:r>
          </a:p>
          <a:p>
            <a:pPr lvl="1">
              <a:defRPr b="1"/>
            </a:pPr>
            <a:r>
              <a:t>Our Response:</a:t>
            </a:r>
          </a:p>
          <a:p>
            <a:pPr lvl="2">
              <a:defRPr sz="1300"/>
            </a:pPr>
            <a:r>
              <a:t>Oulipo now serves as central theoretical bridge, providing both historical validation and conceptual vocabulary ('constraint liberates', 'potential literature machine')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DDL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Oulipo Enhances DDL Justification</a:t>
            </a:r>
          </a:p>
          <a:p>
            <a:pPr>
              <a:defRPr b="1"/>
            </a:pPr>
            <a:r>
              <a:t>Traditional DDL:</a:t>
            </a:r>
          </a:p>
          <a:p>
            <a:pPr lvl="1">
              <a:defRPr sz="1400"/>
            </a:pPr>
            <a:r>
              <a:t>Learner queries corpus → receives evidence → makes linguistic decisions</a:t>
            </a:r>
          </a:p>
          <a:p>
            <a:pPr>
              <a:defRPr b="1"/>
            </a:pPr>
            <a:r>
              <a:t>Oulipian Constraint-Based Creation:</a:t>
            </a:r>
          </a:p>
          <a:p>
            <a:pPr lvl="1">
              <a:defRPr sz="1400"/>
            </a:pPr>
            <a:r>
              <a:t>Writer imposes constraint → explores forced linguistic space → produces novel output</a:t>
            </a:r>
          </a:p>
          <a:p>
            <a:pPr>
              <a:defRPr b="1"/>
            </a:pPr>
            <a:r>
              <a:t>AI-Assisted DDL (Our Approach):</a:t>
            </a:r>
          </a:p>
          <a:p>
            <a:pPr lvl="1">
              <a:defRPr sz="1400"/>
            </a:pPr>
            <a:r>
              <a:t>AI generates pattern constraints → learner notices/evaluates/revises → synthesizes with critical agency</a:t>
            </a:r>
          </a:p>
          <a:p/>
          <a:p>
            <a:pPr>
              <a:defRPr i="1" b="1" sz="1400">
                <a:solidFill>
                  <a:srgbClr val="008000"/>
                </a:solidFill>
              </a:defRPr>
            </a:pPr>
            <a:r>
              <a:t>All three share: Active decision-making, Pattern-based learning, Constraint as productive 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Contribution: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This Integration Achieves</a:t>
            </a:r>
          </a:p>
          <a:p>
            <a:pPr>
              <a:defRPr sz="1400"/>
            </a:pPr>
            <a:r>
              <a:t>Positions AI-assisted poetry within 60-year tradition of constraint-based creativity</a:t>
            </a:r>
          </a:p>
          <a:p>
            <a:pPr>
              <a:defRPr sz="1400"/>
            </a:pPr>
            <a:r>
              <a:t>Addresses Heidegger's concerns while maintaining pedagogical validity</a:t>
            </a:r>
          </a:p>
          <a:p>
            <a:pPr>
              <a:defRPr sz="1400"/>
            </a:pPr>
            <a:r>
              <a:t>Provides historical evidence that systematic procedures generate, not suppress, creativity</a:t>
            </a:r>
          </a:p>
          <a:p>
            <a:pPr>
              <a:defRPr sz="1400"/>
            </a:pPr>
            <a:r>
              <a:t>Offers conceptual vocabulary from Oulipo ('constraint liberates', 'potential literature')</a:t>
            </a:r>
          </a:p>
          <a:p>
            <a:pPr>
              <a:defRPr sz="1400"/>
            </a:pPr>
            <a:r>
              <a:t>Strengthens DDL justification by showing structural parallels with constraint-based learning</a:t>
            </a:r>
          </a:p>
          <a:p>
            <a:pPr>
              <a:defRPr sz="1400"/>
            </a:pPr>
            <a:r>
              <a:t>Explicitly responds to both Dr. Checketts' and Dr. Harrington's feedback</a:t>
            </a:r>
          </a:p>
          <a:p/>
          <a:p>
            <a:pPr>
              <a:defRPr i="1" b="1" sz="1500">
                <a:solidFill>
                  <a:srgbClr val="0000C0"/>
                </a:solidFill>
              </a:defRPr>
            </a:pPr>
            <a:r>
              <a:t>AI as bounded, transparent constraint provider = pedagogically defensible evolution of both DDL and Oulipian traditions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