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From Static to Dynamic: Parameter Manipulation as Adaptive DDL Scaffolding in Creative Writing with Generative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Ruobin Yu</a:t>
            </a:r>
          </a:p>
          <a:p>
            <a:r>
              <a:t>CRP Second Debate</a:t>
            </a:r>
          </a:p>
          <a:p>
            <a:r>
              <a:t>Hong Kong Baptist University</a:t>
            </a:r>
          </a:p>
          <a:p/>
          <a:p>
            <a:r>
              <a:t>Revised Draft: Addressing Panel Feedback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- Key Revisions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Six Major Changes in Response to Panel Feedback:</a:t>
            </a:r>
          </a:p>
          <a:p>
            <a:pPr>
              <a:defRPr sz="1600"/>
            </a:pPr>
            <a:r>
              <a:t>1. Narrowed Research Focus → Single unified RQ on parameter effects</a:t>
            </a:r>
          </a:p>
          <a:p>
            <a:pPr>
              <a:defRPr sz="1600"/>
            </a:pPr>
            <a:r>
              <a:t>2. L2 Framing Reconsidered → 'Novice writers' emphasis + limitations acknowledged</a:t>
            </a:r>
          </a:p>
          <a:p>
            <a:pPr>
              <a:defRPr sz="1600"/>
            </a:pPr>
            <a:r>
              <a:t>3. Poetry vs. Machine Logic → Heidegger challenged, writing-as-problem-solving defended</a:t>
            </a:r>
          </a:p>
          <a:p>
            <a:pPr>
              <a:defRPr sz="1600"/>
            </a:pPr>
            <a:r>
              <a:t>4. DDL Justification → AI as 'new DDL interface' argument developed</a:t>
            </a:r>
          </a:p>
          <a:p>
            <a:pPr>
              <a:defRPr sz="1600"/>
            </a:pPr>
            <a:r>
              <a:t>5. Creativity Framework → Type C and divergent creativity mechanism explained</a:t>
            </a:r>
          </a:p>
          <a:p>
            <a:pPr>
              <a:defRPr sz="1600"/>
            </a:pPr>
            <a:r>
              <a:t>6. Limitations &amp; Future Studies → Comparison groups, longitudinal design proposed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 #1 - Narrowed Research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Broad to Focused</a:t>
            </a:r>
          </a:p>
          <a:p>
            <a:pPr>
              <a:defRPr b="1" sz="1600"/>
            </a:pPr>
            <a:r>
              <a:t>Original Issue (Dr. Harrington):</a:t>
            </a:r>
          </a:p>
          <a:p>
            <a:pPr lvl="1"/>
            <a:r>
              <a:t>"Research questions are too broad"</a:t>
            </a:r>
          </a:p>
          <a:p>
            <a:pPr>
              <a:defRPr b="1" sz="1600"/>
            </a:pPr>
            <a:r>
              <a:t>Revision:</a:t>
            </a:r>
          </a:p>
          <a:p>
            <a:pPr lvl="1">
              <a:defRPr sz="1400"/>
            </a:pPr>
            <a:r>
              <a:t>RQ1: How do different parameter configurations influence authorship/ownership, creative agency, and satisfaction for novice poetry writers in university classroom?</a:t>
            </a:r>
          </a:p>
          <a:p>
            <a:pPr lvl="1">
              <a:defRPr sz="1400"/>
            </a:pPr>
            <a:r>
              <a:t>RQ2: What pedagogical implications emerge for configuring AI as adaptive DDL scaffolding?</a:t>
            </a:r>
          </a:p>
          <a:p>
            <a:pPr>
              <a:defRPr b="1" sz="1600"/>
            </a:pPr>
            <a:r>
              <a:t>Key Refinement:</a:t>
            </a:r>
          </a:p>
          <a:p>
            <a:pPr lvl="1">
              <a:defRPr sz="1400"/>
            </a:pPr>
            <a:r>
              <a:t>Unified focus on parameter → interaction → perception mechanism</a:t>
            </a:r>
          </a:p>
          <a:p>
            <a:pPr lvl="1">
              <a:defRPr sz="1400"/>
            </a:pPr>
            <a:r>
              <a:t>Explicit outcome measures: authorship, agency, satisfaction</a:t>
            </a:r>
          </a:p>
          <a:p>
            <a:pPr lvl="1">
              <a:defRPr sz="1400"/>
            </a:pPr>
            <a:r>
              <a:t>Context: university creative writing classrooms, novice writers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 #2 - L2 Framing Reconsidered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Avoiding Deficit Assumptions</a:t>
            </a:r>
          </a:p>
          <a:p>
            <a:pPr>
              <a:defRPr b="1"/>
            </a:pPr>
            <a:r>
              <a:t>Original Issue (Dr. Checketts, Dr. Hung):</a:t>
            </a:r>
          </a:p>
          <a:p>
            <a:pPr lvl="1"/>
            <a:r>
              <a:t>"Avoid assuming L2 learners are deficient compared to L1 writers"</a:t>
            </a:r>
          </a:p>
          <a:p>
            <a:pPr>
              <a:defRPr b="1"/>
            </a:pPr>
            <a:r>
              <a:t>Revision Strategy:</a:t>
            </a:r>
          </a:p>
          <a:p>
            <a:pPr lvl="1"/>
            <a:r>
              <a:t>✓ Emphasis on 'novice writers' rather than L2/L1 distinction</a:t>
            </a:r>
          </a:p>
          <a:p>
            <a:pPr lvl="1"/>
            <a:r>
              <a:t>✓ Limitation section acknowledges lack of L1 comparison group</a:t>
            </a:r>
          </a:p>
          <a:p>
            <a:pPr lvl="1"/>
            <a:r>
              <a:t>✓ Future studies propose L2 and L1 parallel groups</a:t>
            </a:r>
          </a:p>
          <a:p>
            <a:pPr>
              <a:defRPr i="1" sz="1400"/>
            </a:pPr>
            <a:r>
              <a:t>Rationale: Focus on pedagogical scaffolding needs rather than language proficiency deficits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 #3 - Poetry vs. Machine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Challenging Heidegger's Binary</a:t>
            </a:r>
          </a:p>
          <a:p>
            <a:pPr>
              <a:defRPr b="1"/>
            </a:pPr>
            <a:r>
              <a:t>Heidegger (1984) vs. Strehovec (2023)</a:t>
            </a:r>
          </a:p>
          <a:p>
            <a:pPr lvl="1"/>
            <a:r>
              <a:t>• Heidegger: Poetry = purest human expression, incompatible with machine logic</a:t>
            </a:r>
          </a:p>
          <a:p>
            <a:pPr lvl="1"/>
            <a:r>
              <a:t>• Strehovec: Artistic creation = cognitive activity, poetry = problem-solving</a:t>
            </a:r>
          </a:p>
          <a:p>
            <a:pPr>
              <a:defRPr b="1"/>
            </a:pPr>
            <a:r>
              <a:t>Our Position:</a:t>
            </a:r>
          </a:p>
          <a:p>
            <a:pPr lvl="1">
              <a:defRPr sz="1400"/>
            </a:pPr>
            <a:r>
              <a:t>Machine influence is pedagogically valid when bounded and transparent: AI provides pattern data and options, while humans retain selection, rejection, and revision authority.</a:t>
            </a:r>
          </a:p>
          <a:p>
            <a:pPr lvl="1">
              <a:defRPr sz="1300"/>
            </a:pPr>
            <a:r>
              <a:t>For beginners in writing who have ideas but lack linguistic resources, AI-assisted poetry can be DDL when the process foregrounds noticing, testing, and reflective decision making.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 #4 - DDL Justification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as a New DDL Interface</a:t>
            </a:r>
          </a:p>
          <a:p>
            <a:pPr>
              <a:defRPr b="1"/>
            </a:pPr>
            <a:r>
              <a:t>Traditional DDL:</a:t>
            </a:r>
          </a:p>
          <a:p>
            <a:pPr lvl="1"/>
            <a:r>
              <a:t>Learner → Query → Corpus → Concordance → Discovery</a:t>
            </a:r>
          </a:p>
          <a:p>
            <a:pPr>
              <a:defRPr b="1"/>
            </a:pPr>
            <a:r>
              <a:t>AI-Assisted DDL:</a:t>
            </a:r>
          </a:p>
          <a:p>
            <a:pPr lvl="1"/>
            <a:r>
              <a:t>Learner + AI → Pattern Generation → Noticing/Analysis → Selection/Revision</a:t>
            </a:r>
          </a:p>
          <a:p>
            <a:pPr>
              <a:defRPr b="1"/>
            </a:pPr>
            <a:r>
              <a:t>Key Statement:</a:t>
            </a:r>
          </a:p>
          <a:p>
            <a:pPr lvl="1">
              <a:defRPr i="1"/>
            </a:pPr>
            <a:r>
              <a:t>"AI can serve as a new DDL interface if learners treat its outputs as linguistic data to notice, analyze, and revise."</a:t>
            </a:r>
          </a:p>
          <a:p>
            <a:pPr lvl="1">
              <a:defRPr sz="1300"/>
            </a:pPr>
            <a:r>
              <a:t>Why Poetry? Traditional DDL shows 'what has been written'; AI-assisted DDL enables 'what could be written' → critical for creative writing where novelty and surprise are pedagogical goals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Parameter → Interaction → Perception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Technical-Pedagogical Bridge</a:t>
            </a:r>
          </a:p>
          <a:p>
            <a:pPr>
              <a:defRPr b="1"/>
            </a:pPr>
            <a:r>
              <a:t>The Mechanism We Discovered:</a:t>
            </a:r>
          </a:p>
          <a:p>
            <a:pPr lvl="1"/>
            <a:r>
              <a:t>Parameter Configuration ↓</a:t>
            </a:r>
          </a:p>
          <a:p>
            <a:pPr lvl="1"/>
            <a:r>
              <a:t>Interaction Type Distribution ↓</a:t>
            </a:r>
          </a:p>
          <a:p>
            <a:pPr lvl="1"/>
            <a:r>
              <a:t>Authorship &amp; Agency Perception</a:t>
            </a:r>
          </a:p>
          <a:p>
            <a:pPr>
              <a:defRPr b="1"/>
            </a:pPr>
            <a:r>
              <a:t>Empirical Evidence:</a:t>
            </a:r>
          </a:p>
          <a:p>
            <a:pPr lvl="1"/>
            <a:r>
              <a:t>Structured (T=0.3, top-p=0.4): Type C 5%, Lower authorship (40-60%)</a:t>
            </a:r>
          </a:p>
          <a:p>
            <a:pPr lvl="1"/>
            <a:r>
              <a:t>Exploratory (T=0.8, top-p=0.9): Type C 35%, Higher authorship (60-96%)</a:t>
            </a:r>
          </a:p>
          <a:p>
            <a:pPr>
              <a:defRPr b="1">
                <a:solidFill>
                  <a:srgbClr val="C00000"/>
                </a:solidFill>
              </a:defRPr>
            </a:pPr>
            <a:r>
              <a:t>7-fold increase in Type C (χ²=24.3, p&lt;.001, Cramer's V=.38)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Interaction Types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DDL-Scaffolding Modes</a:t>
            </a:r>
          </a:p>
          <a:p>
            <a:pPr>
              <a:defRPr b="1"/>
            </a:pPr>
            <a:r>
              <a:t>Type A: Constraint Repair</a:t>
            </a:r>
          </a:p>
          <a:p>
            <a:pPr lvl="1">
              <a:defRPr sz="1300"/>
            </a:pPr>
            <a:r>
              <a:t>Pattern reinforcement | Low parameter | Heavy scaffolding | Convergent creativity</a:t>
            </a:r>
          </a:p>
          <a:p>
            <a:pPr>
              <a:defRPr b="1"/>
            </a:pPr>
            <a:r>
              <a:t>Type B: Exemplar Giving</a:t>
            </a:r>
          </a:p>
          <a:p>
            <a:pPr lvl="1">
              <a:defRPr sz="1300"/>
            </a:pPr>
            <a:r>
              <a:t>Model selection | Medium parameter | Moderate scaffolding | Hybrid creativity</a:t>
            </a:r>
          </a:p>
          <a:p>
            <a:pPr>
              <a:defRPr b="1"/>
            </a:pPr>
            <a:r>
              <a:t>Type C: Surprise Harvest</a:t>
            </a:r>
          </a:p>
          <a:p>
            <a:pPr lvl="1">
              <a:defRPr sz="1300"/>
            </a:pPr>
            <a:r>
              <a:t>Serendipitous discovery | High parameter | Light scaffolding | Divergent creativity</a:t>
            </a:r>
          </a:p>
          <a:p/>
          <a:p>
            <a:pPr>
              <a:defRPr i="1" sz="1400"/>
            </a:pPr>
            <a:r>
              <a:t>Type A: "AI as tutor" | Type B: "AI as resource bank" | Type C: "AI as creative partner"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Type B Paradox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Helpful but Alienating</a:t>
            </a:r>
          </a:p>
          <a:p>
            <a:pPr>
              <a:defRPr b="1"/>
            </a:pPr>
            <a:r>
              <a:t>Empirical Finding:</a:t>
            </a:r>
          </a:p>
          <a:p>
            <a:pPr lvl="1">
              <a:defRPr>
                <a:solidFill>
                  <a:srgbClr val="008000"/>
                </a:solidFill>
              </a:defRPr>
            </a:pPr>
            <a:r>
              <a:t>✓ Most common (61.54% voted)</a:t>
            </a:r>
          </a:p>
          <a:p>
            <a:pPr lvl="1">
              <a:defRPr>
                <a:solidFill>
                  <a:srgbClr val="008000"/>
                </a:solidFill>
              </a:defRPr>
            </a:pPr>
            <a:r>
              <a:t>✓ Most helpful (55.56% voted)</a:t>
            </a:r>
          </a:p>
          <a:p>
            <a:pPr lvl="1">
              <a:defRPr>
                <a:solidFill>
                  <a:srgbClr val="C00000"/>
                </a:solidFill>
              </a:defRPr>
            </a:pPr>
            <a:r>
              <a:t>✗ Reduced authorship perception</a:t>
            </a:r>
          </a:p>
          <a:p>
            <a:pPr lvl="1">
              <a:defRPr>
                <a:solidFill>
                  <a:srgbClr val="C00000"/>
                </a:solidFill>
              </a:defRPr>
            </a:pPr>
            <a:r>
              <a:t>✗ Lower creative satisfaction</a:t>
            </a:r>
          </a:p>
          <a:p>
            <a:pPr>
              <a:defRPr b="1"/>
            </a:pPr>
            <a:r>
              <a:t>Participant Quotes:</a:t>
            </a:r>
          </a:p>
          <a:p>
            <a:pPr lvl="1">
              <a:defRPr sz="1300"/>
            </a:pPr>
            <a:r>
              <a:t>P02: "I do not feel ownership or pride over much of it"</a:t>
            </a:r>
          </a:p>
          <a:p>
            <a:pPr lvl="1">
              <a:defRPr sz="1300"/>
            </a:pPr>
            <a:r>
              <a:t>P05: "Feels like just AI... I couldn't feel any sort of creativity"</a:t>
            </a:r>
          </a:p>
          <a:p>
            <a:pPr>
              <a:defRPr i="1">
                <a:solidFill>
                  <a:srgbClr val="000080"/>
                </a:solidFill>
              </a:defRPr>
            </a:pPr>
            <a:r>
              <a:t>Cognitive Shift: From 'How do I create?' to 'Which option do I choose?'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 #5 - Creativity Framework in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 C: Convergent → Divergent Transformation</a:t>
            </a:r>
          </a:p>
          <a:p>
            <a:pPr>
              <a:defRPr b="1"/>
            </a:pPr>
            <a:r>
              <a:t>Type C Mechanism:</a:t>
            </a:r>
          </a:p>
          <a:p>
            <a:pPr lvl="1"/>
            <a:r>
              <a:t>1. AI generates unexpected suggestions (divergent input)</a:t>
            </a:r>
          </a:p>
          <a:p>
            <a:pPr lvl="1"/>
            <a:r>
              <a:t>2. Human exercises critical judgment (evaluation)</a:t>
            </a:r>
          </a:p>
          <a:p>
            <a:pPr lvl="1"/>
            <a:r>
              <a:t>3. Iterative reciprocity emerges (negotiation cycles)</a:t>
            </a:r>
          </a:p>
          <a:p>
            <a:pPr lvl="1"/>
            <a:r>
              <a:t>4. Authorship activated through rejection/refinement (agency)</a:t>
            </a:r>
          </a:p>
          <a:p>
            <a:pPr>
              <a:defRPr b="1"/>
            </a:pPr>
            <a:r>
              <a:t>Evidence:</a:t>
            </a:r>
          </a:p>
          <a:p>
            <a:pPr lvl="1"/>
            <a:r>
              <a:t>• P09: 80% authorship through 5 iterative cycles</a:t>
            </a:r>
          </a:p>
          <a:p>
            <a:pPr lvl="1"/>
            <a:r>
              <a:t>• P12: 90% authorship (highest across 30 participants)</a:t>
            </a:r>
          </a:p>
          <a:p>
            <a:pPr lvl="1"/>
            <a:r>
              <a:t>• P16: 50-50 co-creation with maximum satisfaction (5/5)</a:t>
            </a:r>
          </a:p>
          <a:p>
            <a:pPr>
              <a:defRPr i="1" sz="1300"/>
            </a:pPr>
            <a:r>
              <a:t>Core Insight: Type C provokes divergent thinking while demanding convergent judgment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C Case Evidence: P12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90% Authorship Despite 15-20% AI Contribution</a:t>
            </a:r>
          </a:p>
          <a:p>
            <a:pPr>
              <a:defRPr b="1"/>
            </a:pPr>
            <a:r>
              <a:t>Five Iterative Cycles:</a:t>
            </a:r>
          </a:p>
          <a:p>
            <a:pPr lvl="1">
              <a:defRPr sz="1300"/>
            </a:pPr>
            <a:r>
              <a:t>1. Initial vision: "Cursed princess in dragon form" (human)</a:t>
            </a:r>
          </a:p>
          <a:p>
            <a:pPr lvl="1">
              <a:defRPr sz="1300"/>
            </a:pPr>
            <a:r>
              <a:t>2. AI attempt: Opening lines about transformation</a:t>
            </a:r>
          </a:p>
          <a:p>
            <a:pPr lvl="1">
              <a:defRPr sz="1300"/>
            </a:pPr>
            <a:r>
              <a:t>3. Critical rejection: "I don't want repetitive use of 'whisper'" (human judgment)</a:t>
            </a:r>
          </a:p>
          <a:p>
            <a:pPr lvl="1">
              <a:defRPr sz="1300"/>
            </a:pPr>
            <a:r>
              <a:t>4. AI refinement: Adjusted to "hidden hope"</a:t>
            </a:r>
          </a:p>
          <a:p>
            <a:pPr lvl="1">
              <a:defRPr sz="1300"/>
            </a:pPr>
            <a:r>
              <a:t>5. Narrative correction: "Princess seeks witch's help, not vice versa" (human agency)</a:t>
            </a:r>
          </a:p>
          <a:p>
            <a:pPr>
              <a:defRPr i="1" sz="1400"/>
            </a:pPr>
            <a:r>
              <a:t>P16: "I asked, I instructed, I guided" → Language of choreography, not consumption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 #6 - Limitations Acknowledged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This Study Did Not Do</a:t>
            </a:r>
          </a:p>
          <a:p>
            <a:pPr>
              <a:defRPr b="1" sz="1300"/>
            </a:pPr>
            <a:r>
              <a:t>1. No L1 Comparison Group</a:t>
            </a:r>
          </a:p>
          <a:p>
            <a:pPr lvl="1">
              <a:defRPr sz="1300"/>
            </a:pPr>
            <a:r>
              <a:t>   - All 30 participants were L2 English learners</a:t>
            </a:r>
          </a:p>
          <a:p>
            <a:pPr lvl="1">
              <a:defRPr sz="1300"/>
            </a:pPr>
            <a:r>
              <a:t>   - Cannot isolate language background effects</a:t>
            </a:r>
          </a:p>
          <a:p>
            <a:pPr>
              <a:defRPr b="1" sz="1300"/>
            </a:pPr>
            <a:r>
              <a:t>2. No Long-Period Observation</a:t>
            </a:r>
          </a:p>
          <a:p>
            <a:pPr lvl="1">
              <a:defRPr sz="1300"/>
            </a:pPr>
            <a:r>
              <a:t>   - Single 75-minute session per participant</a:t>
            </a:r>
          </a:p>
          <a:p>
            <a:pPr lvl="1">
              <a:defRPr sz="1300"/>
            </a:pPr>
            <a:r>
              <a:t>   - Cannot track development over time</a:t>
            </a:r>
          </a:p>
          <a:p>
            <a:pPr>
              <a:defRPr b="1" sz="1300"/>
            </a:pPr>
            <a:r>
              <a:t>3. No No-AI Control Condition</a:t>
            </a:r>
          </a:p>
          <a:p>
            <a:pPr lvl="1">
              <a:defRPr sz="1300"/>
            </a:pPr>
            <a:r>
              <a:t>   - All participants used AI</a:t>
            </a:r>
          </a:p>
          <a:p>
            <a:pPr lvl="1">
              <a:defRPr sz="1300"/>
            </a:pPr>
            <a:r>
              <a:t>   - Cannot isolate pure AI effects</a:t>
            </a:r>
          </a:p>
          <a:p>
            <a:pPr>
              <a:defRPr b="1" sz="1300"/>
            </a:pPr>
            <a:r>
              <a:t>4. Sample Size (N=30)</a:t>
            </a:r>
          </a:p>
          <a:p>
            <a:pPr lvl="1">
              <a:defRPr sz="1300"/>
            </a:pPr>
            <a:r>
              <a:t>   - Depth over breadth approach</a:t>
            </a:r>
          </a:p>
          <a:p>
            <a:pPr lvl="1">
              <a:defRPr sz="1300"/>
            </a:pPr>
            <a:r>
              <a:t>   - Rich qualitative data but limited generalizability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Study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Addressing Current Limitations</a:t>
            </a:r>
          </a:p>
          <a:p>
            <a:pPr>
              <a:defRPr b="1"/>
            </a:pPr>
            <a:r>
              <a:t>Design Changes:</a:t>
            </a:r>
          </a:p>
          <a:p>
            <a:pPr lvl="1">
              <a:defRPr sz="1400"/>
            </a:pPr>
            <a:r>
              <a:t>Groups: L2 only → L2 + L1 parallel groups</a:t>
            </a:r>
          </a:p>
          <a:p>
            <a:pPr lvl="1">
              <a:defRPr sz="1400"/>
            </a:pPr>
            <a:r>
              <a:t>Control: All AI-assisted → AI-assisted + No-AI condition</a:t>
            </a:r>
          </a:p>
          <a:p>
            <a:pPr lvl="1">
              <a:defRPr sz="1400"/>
            </a:pPr>
            <a:r>
              <a:t>Duration: Single 75-min session → Multi-session across semester</a:t>
            </a:r>
          </a:p>
          <a:p>
            <a:pPr lvl="1">
              <a:defRPr sz="1400"/>
            </a:pPr>
            <a:r>
              <a:t>Measures: Self-reported → + Computational attribution + Validated scales</a:t>
            </a:r>
          </a:p>
          <a:p>
            <a:pPr lvl="1">
              <a:defRPr sz="1400"/>
            </a:pPr>
            <a:r>
              <a:t>Analysis: Qualitative-dominant → Mixed: Thematic + Quantitative</a:t>
            </a:r>
          </a:p>
          <a:p>
            <a:pPr>
              <a:defRPr i="1" sz="1300"/>
            </a:pPr>
            <a:r>
              <a:t>Key Additions: L1 control, No-AI baseline, Longitudinal design, Guilford's creativity scales, Pre-registration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Theoretical Contribution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This Revised Study Argues</a:t>
            </a:r>
          </a:p>
          <a:p>
            <a:pPr>
              <a:defRPr b="1"/>
            </a:pPr>
            <a:r>
              <a:t>Core Claim:</a:t>
            </a:r>
          </a:p>
          <a:p>
            <a:pPr lvl="1">
              <a:defRPr sz="1400"/>
            </a:pPr>
            <a:r>
              <a:t>Parameter manipulation is a pedagogical design lever that educators can use to dynamically adapt DDL scaffolding in AI-assisted creative writing</a:t>
            </a:r>
          </a:p>
          <a:p>
            <a:pPr>
              <a:defRPr b="1"/>
            </a:pPr>
            <a:r>
              <a:t>Three Mechanisms Revealed:</a:t>
            </a:r>
          </a:p>
          <a:p>
            <a:pPr lvl="1"/>
            <a:r>
              <a:t>1. Parameter → Interaction: Technical settings shape interaction types</a:t>
            </a:r>
          </a:p>
          <a:p>
            <a:pPr lvl="1"/>
            <a:r>
              <a:t>2. Interaction → Perception: Different types produce distinct authorship experiences</a:t>
            </a:r>
          </a:p>
          <a:p>
            <a:pPr lvl="1"/>
            <a:r>
              <a:t>3. Perception → Pedagogy: Learners intuitively detect and select scaffolding modes</a:t>
            </a:r>
          </a:p>
          <a:p>
            <a:pPr>
              <a:defRPr i="1" sz="1300"/>
            </a:pPr>
            <a:r>
              <a:t>Practical Implication: Educators need to understand parameter effects and adjust settings to match learner needs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Response to Panel Feedback -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Feedback Integrated</a:t>
            </a:r>
          </a:p>
          <a:p>
            <a:pPr>
              <a:defRPr sz="1400"/>
            </a:pPr>
            <a:r>
              <a:t>Dr. Wang: DDL justification → AI as 'new DDL interface' argument</a:t>
            </a:r>
          </a:p>
          <a:p>
            <a:pPr>
              <a:defRPr sz="1400"/>
            </a:pPr>
            <a:r>
              <a:t>Dr. Checketts: Poetry vs. machine logic → Heidegger-Strehovec dialectic</a:t>
            </a:r>
          </a:p>
          <a:p>
            <a:pPr>
              <a:defRPr sz="1400"/>
            </a:pPr>
            <a:r>
              <a:t>Dr. Checketts &amp; Dr. Hung: Creativity framework → Type C mechanism</a:t>
            </a:r>
          </a:p>
          <a:p>
            <a:pPr>
              <a:defRPr sz="1400"/>
            </a:pPr>
            <a:r>
              <a:t>Dr. Harrington: Research questions → Unified parameter-interaction-perception RQ</a:t>
            </a:r>
          </a:p>
          <a:p>
            <a:pPr>
              <a:defRPr sz="1400"/>
            </a:pPr>
            <a:r>
              <a:t>Dr. Hung: L2 framing → 'Novice writers' + limitations + future L1 groups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Questions for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Panel Consideration</a:t>
            </a:r>
          </a:p>
          <a:p>
            <a:pPr>
              <a:defRPr sz="1400"/>
            </a:pPr>
            <a:r>
              <a:t>1. Has the AI-as-DDL-interface argument successfully extended DDL theory?</a:t>
            </a:r>
          </a:p>
          <a:p>
            <a:pPr>
              <a:defRPr sz="1400"/>
            </a:pPr>
            <a:r>
              <a:t>2. Is the three-interaction-types framework adequate without explicit Guilford measures?</a:t>
            </a:r>
          </a:p>
          <a:p>
            <a:pPr>
              <a:defRPr sz="1400"/>
            </a:pPr>
            <a:r>
              <a:t>3. Does the 'novice writers' emphasis strengthen or weaken the study?</a:t>
            </a:r>
          </a:p>
          <a:p>
            <a:pPr>
              <a:defRPr sz="1400"/>
            </a:pPr>
            <a:r>
              <a:t>4. To what extent do findings transfer to other creative genres or academic writing?</a:t>
            </a:r>
          </a:p>
          <a:p>
            <a:pPr>
              <a:defRPr sz="1400"/>
            </a:pPr>
            <a:r>
              <a:t>5. What specific parameter configuration heuristics should educators follow?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DDL's Evolution, Not Death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Original Challenge (Crosthwaite &amp; Baisa 2023):</a:t>
            </a:r>
          </a:p>
          <a:p>
            <a:pPr lvl="1">
              <a:defRPr i="1"/>
            </a:pPr>
            <a:r>
              <a:t>"Generative AI represents the death of Data-driven Learning"</a:t>
            </a:r>
          </a:p>
          <a:p>
            <a:pPr>
              <a:defRPr b="1"/>
            </a:pPr>
            <a:r>
              <a:t>Our Counter-Claim:</a:t>
            </a:r>
          </a:p>
          <a:p>
            <a:pPr lvl="1">
              <a:defRPr b="1">
                <a:solidFill>
                  <a:srgbClr val="008000"/>
                </a:solidFill>
              </a:defRPr>
            </a:pPr>
            <a:r>
              <a:t>Generative AI represents DDL's evolution from static to dynamic</a:t>
            </a:r>
          </a:p>
          <a:p>
            <a:pPr>
              <a:defRPr b="1"/>
            </a:pPr>
            <a:r>
              <a:t>From:</a:t>
            </a:r>
          </a:p>
          <a:p>
            <a:pPr lvl="1">
              <a:defRPr sz="1300"/>
            </a:pPr>
            <a:r>
              <a:t>Learner-initiated queries → System-initiated pattern presentation</a:t>
            </a:r>
          </a:p>
          <a:p>
            <a:pPr lvl="1">
              <a:defRPr sz="1300"/>
            </a:pPr>
            <a:r>
              <a:t>Fixed corpus evidence → Generative possibilities</a:t>
            </a:r>
          </a:p>
          <a:p>
            <a:pPr lvl="1">
              <a:defRPr sz="1300"/>
            </a:pPr>
            <a:r>
              <a:t>Manual concordance search → Conversational scaffolding</a:t>
            </a:r>
          </a:p>
          <a:p>
            <a:pPr lvl="1">
              <a:defRPr sz="1300"/>
            </a:pPr>
            <a:r>
              <a:t>One-size-fits-all → Parameter-adjustable adaptivity</a:t>
            </a:r>
          </a:p>
          <a:p>
            <a:pPr>
              <a:defRPr i="1" sz="1400"/>
            </a:pPr>
            <a:r>
              <a:t>The Future of DDL: Educators' capacity to exercise pedagogical judgment over AI configuration</a:t>
            </a:r>
          </a:p>
          <a:p>
            <a:pPr>
              <a:defRPr b="1" sz="1600"/>
            </a:pPr>
            <a:r>
              <a:t>Thank you.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